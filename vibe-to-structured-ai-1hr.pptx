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3" d="100"/>
          <a:sy n="203" d="100"/>
        </p:scale>
        <p:origin x="192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21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76656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353312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029968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06624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383280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059936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36592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413248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089904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6766560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443216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119872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796528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--structured --mode agent --duration 60min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Vibe Coding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Structured AI Development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in VS Code  —  1-Hour Workshop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292608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60 min  |  7 demos  |  1 live build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ASIA-AUSTRALIA  |  Juan Burckhardt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— paced with live demos throughout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0–5 min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89888" y="1005840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389888" y="1005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55648" y="1005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55648" y="12801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modes, what changed with agents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65760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5–12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89888" y="1984248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1389888" y="198424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19842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vs. Structured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55648" y="2258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and why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365760" y="29626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12–22 min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89888" y="2962656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389888" y="29626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55648" y="2962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Exercise — Part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55648" y="3236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 tool: vague prompt path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65760" y="39410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22–32 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89888" y="3941064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1389888" y="39410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55648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55648" y="4215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copilot-instructions.md, llm.txt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1005840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828032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32–42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52160" y="1005840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5852160" y="1005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005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Exercise — Part 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12801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structured path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1984248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828032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42–50 min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52160" y="1984248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852160" y="198424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19842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Skills &amp; MCP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2258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full toolkit + ascii-art skill demo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28032" y="2962656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4828032" y="29626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50–56 min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52160" y="2962656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5852160" y="29626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2962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3236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&amp; custom agents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3941064"/>
            <a:ext cx="960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4828032" y="39410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56–60 min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3941064"/>
            <a:ext cx="29260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5852160" y="39410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+ Q&amp;A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17920" y="4215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RPIV, spec-driven dev, harnesses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Landscape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modes, what changed with agents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0–5 min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in VS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interaction modes — each with different expectations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33272" y="1115568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2070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019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Completions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359152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to accept as you type. Single-line or small block. Zero context-setting needed.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005840"/>
            <a:ext cx="19659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2560320" y="1005840"/>
            <a:ext cx="54864" cy="32918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227832" y="1115568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070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19019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51760" y="2359152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explain code, get snippets. You drive; Copilot responds.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005840"/>
            <a:ext cx="19659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4754880" y="1005840"/>
            <a:ext cx="54864" cy="32918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4"/>
          <p:cNvSpPr/>
          <p:nvPr/>
        </p:nvSpPr>
        <p:spPr>
          <a:xfrm>
            <a:off x="5422392" y="1115568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20700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19019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(multi-file)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46320" y="2359152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change; Copilot edits across files. Needs clear scope.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49440" y="1005840"/>
            <a:ext cx="19659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8"/>
          <p:cNvSpPr/>
          <p:nvPr/>
        </p:nvSpPr>
        <p:spPr>
          <a:xfrm>
            <a:off x="6949440" y="1005840"/>
            <a:ext cx="54864" cy="32918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19"/>
          <p:cNvSpPr/>
          <p:nvPr/>
        </p:nvSpPr>
        <p:spPr>
          <a:xfrm>
            <a:off x="7616952" y="1115568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20700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19019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40880" y="2359152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plans, runs tools, iterates autonomously. Needs structure to stay on track.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3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focuses on Agent Mode — where structure matters most.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0–5 min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Vibe vs. Structured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— and why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5–12 min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Vibe Coding Fails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only work with what you give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38528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22860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014984" y="1051560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18288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21284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a CLI that does ASCII art"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22576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2032" y="960120"/>
            <a:ext cx="1938528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2542032" y="960120"/>
            <a:ext cx="54864" cy="22860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3191256" y="1051560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143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15184" y="18288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Guesses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15184" y="221284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library, style, framework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98848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18304" y="960120"/>
            <a:ext cx="1938528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5"/>
          <p:cNvSpPr/>
          <p:nvPr/>
        </p:nvSpPr>
        <p:spPr>
          <a:xfrm>
            <a:off x="4718304" y="960120"/>
            <a:ext cx="54864" cy="22860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6"/>
          <p:cNvSpPr/>
          <p:nvPr/>
        </p:nvSpPr>
        <p:spPr>
          <a:xfrm>
            <a:off x="5367528" y="1051560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1430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91456" y="18288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Direction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91456" y="221284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you meant — but it's committed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675120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894576" y="960120"/>
            <a:ext cx="1938528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1"/>
          <p:cNvSpPr/>
          <p:nvPr/>
        </p:nvSpPr>
        <p:spPr>
          <a:xfrm>
            <a:off x="6894576" y="960120"/>
            <a:ext cx="54864" cy="22860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2"/>
          <p:cNvSpPr/>
          <p:nvPr/>
        </p:nvSpPr>
        <p:spPr>
          <a:xfrm>
            <a:off x="7543800" y="1051560"/>
            <a:ext cx="640080" cy="64008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14300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67728" y="18288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Back-and-Forth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967728" y="221284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correction cycles to recover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5760" y="3429000"/>
            <a:ext cx="265176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26"/>
          <p:cNvSpPr/>
          <p:nvPr/>
        </p:nvSpPr>
        <p:spPr>
          <a:xfrm>
            <a:off x="475488" y="34930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goal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475488" y="381304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doesn't know success criteria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246120" y="3429000"/>
            <a:ext cx="265176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29"/>
          <p:cNvSpPr/>
          <p:nvPr/>
        </p:nvSpPr>
        <p:spPr>
          <a:xfrm>
            <a:off x="3355848" y="34930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constraints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3355848" y="381304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approach is valid — agent picks arbitrarily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126480" y="3429000"/>
            <a:ext cx="265176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2"/>
          <p:cNvSpPr/>
          <p:nvPr/>
        </p:nvSpPr>
        <p:spPr>
          <a:xfrm>
            <a:off x="6236208" y="34930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6236208" y="381304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has no reference point for style or output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5–12 min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Live Exercise — Part 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 tool: the vague prompt path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12–22 min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focused tool — enough to show the difference clearly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118872" cy="118872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078992"/>
            <a:ext cx="118872" cy="118872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950976" y="1078992"/>
            <a:ext cx="118872" cy="11887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ascii-art </a:t>
            </a: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 </a:t>
            </a:r>
            <a:r>
              <a:rPr lang="en-US" sz="16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"Juan" </a:t>
            </a: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--style </a:t>
            </a:r>
            <a:r>
              <a:rPr lang="en-US" sz="16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 </a:t>
            </a: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--animate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93852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21284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743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--name, --style, --animate flags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42032" y="2148840"/>
            <a:ext cx="193852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2542032" y="2148840"/>
            <a:ext cx="54864" cy="13716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21284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33472" y="2743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Output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633472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name as animated ASCII art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18304" y="2148840"/>
            <a:ext cx="193852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6"/>
          <p:cNvSpPr/>
          <p:nvPr/>
        </p:nvSpPr>
        <p:spPr>
          <a:xfrm>
            <a:off x="4718304" y="2148840"/>
            <a:ext cx="54864" cy="137160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221284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9744" y="2743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09744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choice of runtime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894576" y="2148840"/>
            <a:ext cx="193852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0"/>
          <p:cNvSpPr/>
          <p:nvPr/>
        </p:nvSpPr>
        <p:spPr>
          <a:xfrm>
            <a:off x="6894576" y="2148840"/>
            <a:ext cx="54864" cy="13716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21284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86016" y="2743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86016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no network calls needed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3657600"/>
            <a:ext cx="8412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4"/>
          <p:cNvSpPr/>
          <p:nvPr/>
        </p:nvSpPr>
        <p:spPr>
          <a:xfrm>
            <a:off x="365760" y="36576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Open VS Code → Agent mode → paste the vague prompt. Watch what happens.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12–22 min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Vague Prompt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 when you leave it to guess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8620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34290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CLI that does ASCII art"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84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it animated"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something popular"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388620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54864" cy="34290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120640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assumed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1508760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28523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figlet + chalk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719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(maybe not what you wanted)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2057400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285232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random default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85232" y="22677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--style flag implemented)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606040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285232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Animation: setInterval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2816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(flickers on Windows terminals)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3154680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285232" y="3108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Node.js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33649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 might have meant Python)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1C2333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working code — but not YOUR vision. Now you spend time correcting, not building.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12–22 min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Adding Structure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copilot-instructions.md, llm.txt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22–32 min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Briefing Documents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 that give the agent context before it starts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51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664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0299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root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408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config: goal, scope, allowed tools, constraints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926080"/>
            <a:ext cx="2423160" cy="786384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548640" y="29626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build a Node.js CLI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Runtime: Node 18+, no ESM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use external APIs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format: ANSI escape codes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18688" y="960120"/>
            <a:ext cx="269748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3218688" y="960120"/>
            <a:ext cx="54864" cy="3794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0515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5848" y="1664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55848" y="20299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 folder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55848" y="23408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Copilot-specific: coding style, stack, dos &amp; don'ts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55848" y="2926080"/>
            <a:ext cx="2423160" cy="786384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5"/>
          <p:cNvSpPr/>
          <p:nvPr/>
        </p:nvSpPr>
        <p:spPr>
          <a:xfrm>
            <a:off x="3401568" y="29626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TypeScript strict mode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 functional patterns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with Vitest, not Jest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default exports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71616" y="960120"/>
            <a:ext cx="269748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7"/>
          <p:cNvSpPr/>
          <p:nvPr/>
        </p:nvSpPr>
        <p:spPr>
          <a:xfrm>
            <a:off x="6071616" y="960120"/>
            <a:ext cx="54864" cy="379476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0515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8776" y="1664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llm.txt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08776" y="20299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root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08776" y="23408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LLM: concise facts, examples, scope limits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08776" y="2926080"/>
            <a:ext cx="2423160" cy="786384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2"/>
          <p:cNvSpPr/>
          <p:nvPr/>
        </p:nvSpPr>
        <p:spPr>
          <a:xfrm>
            <a:off x="6254496" y="29626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ascii-art CLI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 --name, --style, --animate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terminal-rendered ASCII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Styles: fire, matrix, ghost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22–32 min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Live Exercise — Part 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— now with structure in place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32–42 min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— Same Task, Different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produces when it has context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862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37490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instructions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517904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58952" y="14721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figlet + chalk (wrong version)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93392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58952" y="1947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--style flag entirely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58952" y="2423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require() + ESM mix — broke on run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944368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58952" y="2898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handling for missing --name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419856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58952" y="3374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flickers on Windows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895344"/>
            <a:ext cx="91440" cy="914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58952" y="38496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follow-up prompts to fix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960120"/>
            <a:ext cx="38862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892040" y="960120"/>
            <a:ext cx="54864" cy="37490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120640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instructions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81328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49240" y="14721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correct library (pure Node, no deps)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956816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49240" y="1947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flags implemented correctly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32304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49240" y="2423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CJS throughout — runs on first attempt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90779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9240" y="2898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for missing --name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38328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3374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frames — works cross-platform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858768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49240" y="38496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follow-up corrections needed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32–42 min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Tools, Skills &amp; MCP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full toolkit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42–50 min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agent's hands — MCP extends its reach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35661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51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91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(built-in)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files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source without copy-paste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terminal commands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935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install deps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3182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codebase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34381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 across files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3685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39410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docs, validate URLs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4937760" y="960120"/>
            <a:ext cx="54864" cy="3566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5156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1691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(external)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16636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services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16636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Jira, Confluence, Azure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66360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live data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166360" y="2935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PRs, issues, wiki pages, logs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166360" y="3182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changes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166360" y="34381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PRs, update tickets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166360" y="3685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66360" y="39410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internal APIs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42–50 min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Knowledge Packs for Agents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Filesystem-based context the agent loads when needed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21488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51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Skill?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2066544"/>
            <a:ext cx="82296" cy="82296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749808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with a SKILL.md (instructions) and any reference files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414016"/>
            <a:ext cx="82296" cy="82296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749808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it when the task matches the skill's trigger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" y="2761488"/>
            <a:ext cx="82296" cy="82296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49808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domain knowledge, patterns, constraints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960120"/>
            <a:ext cx="3840480" cy="21488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5120640" y="1078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2064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ascii-art/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2064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SKILL.md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examples/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fire-example.txt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2064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matrix-example.txt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Demo: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</a:t>
            </a: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ascii-art/SKILL.md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use it in Agent mode → agent reads it before generating code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1"/>
          <p:cNvSpPr/>
          <p:nvPr/>
        </p:nvSpPr>
        <p:spPr>
          <a:xfrm>
            <a:off x="365760" y="3931920"/>
            <a:ext cx="54864" cy="8229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59436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Config — Quick Take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" y="43159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speed vs. depth  |  Context: bigger = more code visible  |  Effort: high = deliberate output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42–50 min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Agents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&amp; custom — when and which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50–56 min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vs. Custom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4864" cy="3474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91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176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414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web search + plan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6791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agent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9169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+ suggestions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3182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summary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419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→ readable description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685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agent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922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query your whole codebase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960120"/>
            <a:ext cx="3840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4937760" y="960120"/>
            <a:ext cx="54864" cy="3474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5156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1691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166360" y="2176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sources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166360" y="2414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Exa, Perplexity, MS Docs via MCP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166360" y="26791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 chain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166360" y="29169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APIs, private registries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166360" y="3182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166360" y="3419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codebase conventions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166360" y="3685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166360" y="3922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multiple agents together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65760" y="4608576"/>
            <a:ext cx="8412480" cy="329184"/>
          </a:xfrm>
          <a:prstGeom prst="rect">
            <a:avLst/>
          </a:prstGeom>
          <a:solidFill>
            <a:srgbClr val="010409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4"/>
          <p:cNvSpPr/>
          <p:nvPr/>
        </p:nvSpPr>
        <p:spPr>
          <a:xfrm>
            <a:off x="365760" y="46085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Demo: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→ </a:t>
            </a:r>
            <a:r>
              <a:rPr lang="en-US" sz="12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CLI tools for ASCII diagrams and art"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plan → search → validate → code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50–56 min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What's Next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RPIV, spec-driven dev, harnesses &amp; Q&amp;A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56–60 min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What Comes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4864" cy="37490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takeaways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46304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needs structure — not just good prompts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574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0391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copilot-instructions.md, and llm.txt are your briefing docs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3347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6151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MCP + Skills give the agent reach without hallucination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954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19125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config choices change behaviour, not just speed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8561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7673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= reproducible, reviewable, version-controlled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800600" y="960120"/>
            <a:ext cx="3977640" cy="749808"/>
          </a:xfrm>
          <a:prstGeom prst="rect">
            <a:avLst/>
          </a:prstGeom>
          <a:solidFill>
            <a:srgbClr val="1C2333"/>
          </a:solidFill>
          <a:ln w="254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0"/>
          <p:cNvSpPr/>
          <p:nvPr/>
        </p:nvSpPr>
        <p:spPr>
          <a:xfrm>
            <a:off x="4800600" y="960120"/>
            <a:ext cx="54864" cy="7498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1"/>
          <p:cNvSpPr/>
          <p:nvPr/>
        </p:nvSpPr>
        <p:spPr>
          <a:xfrm>
            <a:off x="4956048" y="10149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956048" y="1289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Dev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800600" y="1874520"/>
            <a:ext cx="39776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4"/>
          <p:cNvSpPr/>
          <p:nvPr/>
        </p:nvSpPr>
        <p:spPr>
          <a:xfrm>
            <a:off x="4800600" y="1874520"/>
            <a:ext cx="54864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5"/>
          <p:cNvSpPr/>
          <p:nvPr/>
        </p:nvSpPr>
        <p:spPr>
          <a:xfrm>
            <a:off x="4956048" y="1929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956048" y="2203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RPIV Framework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800600" y="2788920"/>
            <a:ext cx="39776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18"/>
          <p:cNvSpPr/>
          <p:nvPr/>
        </p:nvSpPr>
        <p:spPr>
          <a:xfrm>
            <a:off x="4800600" y="2788920"/>
            <a:ext cx="54864" cy="7498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19"/>
          <p:cNvSpPr/>
          <p:nvPr/>
        </p:nvSpPr>
        <p:spPr>
          <a:xfrm>
            <a:off x="4956048" y="28437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956048" y="3118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800600" y="3703320"/>
            <a:ext cx="39776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2"/>
          <p:cNvSpPr/>
          <p:nvPr/>
        </p:nvSpPr>
        <p:spPr>
          <a:xfrm>
            <a:off x="4800600" y="3703320"/>
            <a:ext cx="54864" cy="74980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3"/>
          <p:cNvSpPr/>
          <p:nvPr/>
        </p:nvSpPr>
        <p:spPr>
          <a:xfrm>
            <a:off x="4956048" y="3758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956048" y="40325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Harnesses &amp; Loops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804672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274320" y="4956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56–60 min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76656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353312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029968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06624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383280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059936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36592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413248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089904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6766560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443216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119872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796528" y="0"/>
            <a:ext cx="320040" cy="5143500"/>
          </a:xfrm>
          <a:prstGeom prst="rect">
            <a:avLst/>
          </a:prstGeom>
          <a:solidFill>
            <a:srgbClr val="0D2A1A">
              <a:alpha val="18000"/>
            </a:srgbClr>
          </a:solidFill>
          <a:ln w="12700">
            <a:solidFill>
              <a:srgbClr val="0D2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together.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24688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github.com/ise-asia-au/copilot-workshop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246120"/>
            <a:ext cx="24688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383280" y="3291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docs.github.com/copilot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246120"/>
            <a:ext cx="24688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126480" y="3291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juan.burckhardt@microsoft.com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ASIA-AUSTRALIA  |  Juan Burckhardt  |  juan.burckhardt@microsoft.com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Microsoft Office PowerPoint</Application>
  <PresentationFormat>On-screen Show (16:9)</PresentationFormat>
  <Paragraphs>290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Vibe Coding to Structured AI Development — 1hr Workshop</dc:title>
  <dc:subject>PptxGenJS Presentation</dc:subject>
  <dc:creator>PptxGenJS</dc:creator>
  <cp:lastModifiedBy>Juan Burckhardt</cp:lastModifiedBy>
  <cp:revision>2</cp:revision>
  <dcterms:created xsi:type="dcterms:W3CDTF">2026-06-18T04:13:49Z</dcterms:created>
  <dcterms:modified xsi:type="dcterms:W3CDTF">2026-06-18T04:30:05Z</dcterms:modified>
</cp:coreProperties>
</file>